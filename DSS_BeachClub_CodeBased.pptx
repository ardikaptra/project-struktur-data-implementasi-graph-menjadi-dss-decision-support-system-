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645920"/>
            <a:ext cx="4754880" cy="4754880"/>
          </a:xfrm>
          <a:prstGeom prst="ellipse">
            <a:avLst/>
          </a:prstGeom>
          <a:solidFill>
            <a:srgbClr val="065A82">
              <a:alpha val="35000"/>
            </a:srgbClr>
          </a:solidFill>
          <a:ln w="12700">
            <a:solidFill>
              <a:srgbClr val="065A82">
                <a:alpha val="3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06640" y="-822960"/>
            <a:ext cx="2926080" cy="2926080"/>
          </a:xfrm>
          <a:prstGeom prst="ellipse">
            <a:avLst/>
          </a:prstGeom>
          <a:solidFill>
            <a:srgbClr val="1C7293">
              <a:alpha val="28000"/>
            </a:srgbClr>
          </a:solidFill>
          <a:ln w="12700">
            <a:solidFill>
              <a:srgbClr val="1C7293">
                <a:alpha val="2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097280" y="3474720"/>
            <a:ext cx="2926080" cy="2926080"/>
          </a:xfrm>
          <a:prstGeom prst="ellipse">
            <a:avLst/>
          </a:prstGeom>
          <a:solidFill>
            <a:srgbClr val="065A82">
              <a:alpha val="28000"/>
            </a:srgbClr>
          </a:solidFill>
          <a:ln w="12700">
            <a:solidFill>
              <a:srgbClr val="065A82">
                <a:alpha val="28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20040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9D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IMPLEMENTASI · STREAMLIT · PYTHON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713232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BALI BEACH CLUB</a:t>
            </a:r>
            <a:endParaRPr lang="en-US" sz="5000" dirty="0"/>
          </a:p>
        </p:txBody>
      </p:sp>
      <p:sp>
        <p:nvSpPr>
          <p:cNvPr id="7" name="Text 5"/>
          <p:cNvSpPr/>
          <p:nvPr/>
        </p:nvSpPr>
        <p:spPr>
          <a:xfrm>
            <a:off x="502920" y="1627632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E8A8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DSS ENGINE</a:t>
            </a:r>
            <a:endParaRPr lang="en-US" sz="5000" dirty="0"/>
          </a:p>
        </p:txBody>
      </p:sp>
      <p:sp>
        <p:nvSpPr>
          <p:cNvPr id="8" name="Text 6"/>
          <p:cNvSpPr/>
          <p:nvPr/>
        </p:nvSpPr>
        <p:spPr>
          <a:xfrm>
            <a:off x="502920" y="269748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D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Directed Weighted Graph + Algoritma Dijkstra + GPS Real-Time + AI Recommendation Engine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02920" y="3337560"/>
            <a:ext cx="1554480" cy="457200"/>
          </a:xfrm>
          <a:prstGeom prst="roundRect">
            <a:avLst>
              <a:gd name="adj" fmla="val 50000"/>
            </a:avLst>
          </a:prstGeom>
          <a:solidFill>
            <a:srgbClr val="065A82">
              <a:alpha val="35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333756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🐍 Python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194560" y="3337560"/>
            <a:ext cx="1554480" cy="457200"/>
          </a:xfrm>
          <a:prstGeom prst="roundRect">
            <a:avLst>
              <a:gd name="adj" fmla="val 50000"/>
            </a:avLst>
          </a:prstGeom>
          <a:solidFill>
            <a:srgbClr val="065A82">
              <a:alpha val="35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94560" y="333756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Streamlit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886200" y="3337560"/>
            <a:ext cx="1554480" cy="457200"/>
          </a:xfrm>
          <a:prstGeom prst="roundRect">
            <a:avLst>
              <a:gd name="adj" fmla="val 50000"/>
            </a:avLst>
          </a:prstGeom>
          <a:solidFill>
            <a:srgbClr val="065A82">
              <a:alpha val="35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86200" y="333756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GPS Geolocation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577840" y="3337560"/>
            <a:ext cx="1554480" cy="457200"/>
          </a:xfrm>
          <a:prstGeom prst="roundRect">
            <a:avLst>
              <a:gd name="adj" fmla="val 50000"/>
            </a:avLst>
          </a:prstGeom>
          <a:solidFill>
            <a:srgbClr val="065A82">
              <a:alpha val="35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77840" y="333756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🔢 heapq Dijkstra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269480" y="3337560"/>
            <a:ext cx="1554480" cy="457200"/>
          </a:xfrm>
          <a:prstGeom prst="roundRect">
            <a:avLst>
              <a:gd name="adj" fmla="val 50000"/>
            </a:avLst>
          </a:prstGeom>
          <a:solidFill>
            <a:srgbClr val="065A82">
              <a:alpha val="35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269480" y="333756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pandas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02920" y="4069080"/>
            <a:ext cx="8138160" cy="685800"/>
          </a:xfrm>
          <a:prstGeom prst="roundRect">
            <a:avLst>
              <a:gd name="adj" fmla="val 16000"/>
            </a:avLst>
          </a:prstGeom>
          <a:solidFill>
            <a:srgbClr val="065A82">
              <a:alpha val="25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416052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 Implementasi Source Code Sistem Pendukung Keputusan Rute Wisata Berbasis Graph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28016"/>
            <a:ext cx="7315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OVERVIEW SISTEM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D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 yang dilakukan Bali Beach Club DSS Engine?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56032" y="1143000"/>
            <a:ext cx="2743200" cy="3703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47472" y="1243584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🏖️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384048" y="1947672"/>
            <a:ext cx="24871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Beach Club Real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84048" y="2542032"/>
            <a:ext cx="2487168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lengkap berisi 30 beach club ternama di Bali: Potato Head, Finns, Savaya, Atlas Beach Fest, dan lainnya — lengkap dengan rating, budget, dan koordinat GPS.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0" y="1143000"/>
            <a:ext cx="2743200" cy="3703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91840" y="1243584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🧭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328416" y="1947672"/>
            <a:ext cx="24871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Directed Weighted Graph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328416" y="2542032"/>
            <a:ext cx="2487168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Struktur graph berarah (one-way) dengan bobot berupa WAKTU TEMPUH dalam menit — bukan jarak km. Dimodelkan via Adjacency List.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44768" y="1143000"/>
            <a:ext cx="2743200" cy="3703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236208" y="1243584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📍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272784" y="1947672"/>
            <a:ext cx="24871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Real-Time + AI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272784" y="2542032"/>
            <a:ext cx="2487168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Mendeteksi lokasi user via browser geolocation, lalu memberi rekomendasi multi-kriteria (rating / budget / value) secara otomatis.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8080" y="3200400"/>
            <a:ext cx="2743200" cy="2743200"/>
          </a:xfrm>
          <a:prstGeom prst="ellipse">
            <a:avLst/>
          </a:prstGeom>
          <a:solidFill>
            <a:srgbClr val="065A82">
              <a:alpha val="25000"/>
            </a:srgbClr>
          </a:solidFill>
          <a:ln w="12700">
            <a:solidFill>
              <a:srgbClr val="065A82">
                <a:alpha val="2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A8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ARSITEKTUR &amp; TECH STACK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DB4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config: page_title='Bali Beach Club DSS Engine', layout='wide', sidebar='expanded'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298448"/>
            <a:ext cx="8229600" cy="786384"/>
          </a:xfrm>
          <a:prstGeom prst="roundRect">
            <a:avLst>
              <a:gd name="adj" fmla="val 11628"/>
            </a:avLst>
          </a:prstGeom>
          <a:solidFill>
            <a:srgbClr val="065A82">
              <a:alpha val="20000"/>
            </a:srgbClr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98448"/>
            <a:ext cx="2468880" cy="786384"/>
          </a:xfrm>
          <a:prstGeom prst="roundRect">
            <a:avLst>
              <a:gd name="adj" fmla="val 11628"/>
            </a:avLst>
          </a:prstGeom>
          <a:solidFill>
            <a:srgbClr val="065A82">
              <a:alpha val="70000"/>
            </a:srgbClr>
          </a:solidFill>
          <a:ln w="12700">
            <a:solidFill>
              <a:srgbClr val="065A82">
                <a:alpha val="7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353312"/>
            <a:ext cx="22860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017520" y="1353312"/>
            <a:ext cx="54864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UI web utama. 4 modul navigasi via sidebar radio: Rekomendasi &amp; Filter, Kelola Graf, Optimasi Rute, Inspeksi Struktur Data.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2212848"/>
            <a:ext cx="8229600" cy="786384"/>
          </a:xfrm>
          <a:prstGeom prst="roundRect">
            <a:avLst>
              <a:gd name="adj" fmla="val 11628"/>
            </a:avLst>
          </a:prstGeom>
          <a:solidFill>
            <a:srgbClr val="1C7293">
              <a:alpha val="20000"/>
            </a:srgbClr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212848"/>
            <a:ext cx="2468880" cy="786384"/>
          </a:xfrm>
          <a:prstGeom prst="roundRect">
            <a:avLst>
              <a:gd name="adj" fmla="val 11628"/>
            </a:avLst>
          </a:prstGeom>
          <a:solidFill>
            <a:srgbClr val="1C7293">
              <a:alpha val="70000"/>
            </a:srgbClr>
          </a:solidFill>
          <a:ln w="12700">
            <a:solidFill>
              <a:srgbClr val="1C7293">
                <a:alpha val="7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267712"/>
            <a:ext cx="22860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streamlit_js_eval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017520" y="2267712"/>
            <a:ext cx="54864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get_geolocation() — mengambil koordinat GPS asli browser pengguna secara real-time. Fallback ke koordinat default jika ditolak/gagal.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3127248"/>
            <a:ext cx="8229600" cy="786384"/>
          </a:xfrm>
          <a:prstGeom prst="roundRect">
            <a:avLst>
              <a:gd name="adj" fmla="val 11628"/>
            </a:avLst>
          </a:prstGeom>
          <a:solidFill>
            <a:srgbClr val="8E5BAF">
              <a:alpha val="20000"/>
            </a:srgbClr>
          </a:solidFill>
          <a:ln w="19050">
            <a:solidFill>
              <a:srgbClr val="8E5BA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3127248"/>
            <a:ext cx="2468880" cy="786384"/>
          </a:xfrm>
          <a:prstGeom prst="roundRect">
            <a:avLst>
              <a:gd name="adj" fmla="val 11628"/>
            </a:avLst>
          </a:prstGeom>
          <a:solidFill>
            <a:srgbClr val="8E5BAF">
              <a:alpha val="70000"/>
            </a:srgbClr>
          </a:solidFill>
          <a:ln w="12700">
            <a:solidFill>
              <a:srgbClr val="8E5BAF">
                <a:alpha val="7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182112"/>
            <a:ext cx="22860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BaliBeachClubGraph (dijkstra.py)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017520" y="3182112"/>
            <a:ext cx="54864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custom: adjacency_list (dict of list), node_metadata (dict). Method: add_node, add_edge, compute_dijkstra, get_adjacency_matrix, compute_degree_centrality.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" y="4041648"/>
            <a:ext cx="8229600" cy="786384"/>
          </a:xfrm>
          <a:prstGeom prst="roundRect">
            <a:avLst>
              <a:gd name="adj" fmla="val 11628"/>
            </a:avLst>
          </a:prstGeom>
          <a:solidFill>
            <a:srgbClr val="E8A838">
              <a:alpha val="20000"/>
            </a:srgbClr>
          </a:solidFill>
          <a:ln w="19050">
            <a:solidFill>
              <a:srgbClr val="E8A83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4041648"/>
            <a:ext cx="2468880" cy="786384"/>
          </a:xfrm>
          <a:prstGeom prst="roundRect">
            <a:avLst>
              <a:gd name="adj" fmla="val 11628"/>
            </a:avLst>
          </a:prstGeom>
          <a:solidFill>
            <a:srgbClr val="E8A838">
              <a:alpha val="70000"/>
            </a:srgbClr>
          </a:solidFill>
          <a:ln w="12700">
            <a:solidFill>
              <a:srgbClr val="E8A838">
                <a:alpha val="7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4096512"/>
            <a:ext cx="22860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+ heapq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3017520" y="4096512"/>
            <a:ext cx="54864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untuk DataFrame (tabel, peta st.map, ekspor CSV). heapq untuk Min-Heap priority queue pada algoritma Dijkstra.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STRUKTUR DATA: class BaliBeachClubGraph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115568"/>
            <a:ext cx="3931920" cy="3794760"/>
          </a:xfrm>
          <a:prstGeom prst="roundRect">
            <a:avLst>
              <a:gd name="adj" fmla="val 28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20700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Atribut Class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11480" y="1627632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adjacency_list  </a:t>
            </a:r>
            <a:pPr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dict[node] = list of (target, weight)
</a:t>
            </a:r>
            <a:pPr indent="0" marL="0">
              <a:buNone/>
            </a:pPr>
            <a:r>
              <a:rPr lang="en-US" sz="115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node_metadata  </a:t>
            </a:r>
            <a:pPr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dict[node] = {wilayah, rating, min_spend, lat, lon}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11480" y="2788920"/>
            <a:ext cx="3566160" cy="18288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29260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Catatan Penting: DIRECTED GRAPH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3337560"/>
            <a:ext cx="365760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add_edge() HANYA menambahkan edge ke adjacency_list[source] — TIDAK ada penambahan balik ke adjacency_list[destination]. Artinya graph ini bersifat SATU ARAH (directed), berbeda dari laporan yang menyatakan undirected/dua-arah!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89120" y="1115568"/>
            <a:ext cx="4480560" cy="3794760"/>
          </a:xfrm>
          <a:prstGeom prst="roundRect">
            <a:avLst>
              <a:gd name="adj" fmla="val 2892"/>
            </a:avLst>
          </a:prstGeom>
          <a:solidFill>
            <a:srgbClr val="0D3358"/>
          </a:solidFill>
          <a:ln/>
        </p:spPr>
      </p:sp>
      <p:sp>
        <p:nvSpPr>
          <p:cNvPr id="11" name="Text 9"/>
          <p:cNvSpPr/>
          <p:nvPr/>
        </p:nvSpPr>
        <p:spPr>
          <a:xfrm>
            <a:off x="4526280" y="1207008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🛠️  Method Utama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26280" y="1627632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add_node(name, meta)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526280" y="1874520"/>
            <a:ext cx="4206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D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Daftarkan simpul baru + metadata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526280" y="2139696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add_edge(src, dst, w)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526280" y="2386584"/>
            <a:ext cx="4206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D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Tambah edge berarah src → dst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526280" y="265176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compute_dijkstra(s, e)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526280" y="2898648"/>
            <a:ext cx="4206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D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Hitung jalur tercepat (waktu)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526280" y="3163824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get_adjacency_matrix()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526280" y="3410712"/>
            <a:ext cx="4206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D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Bentuk matriks ketetanggaan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526280" y="3675888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compute_degree_centrality()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526280" y="3922776"/>
            <a:ext cx="4206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D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Hitung skor sentralitas node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526280" y="4370832"/>
            <a:ext cx="4206240" cy="1828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26280" y="4462272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DB4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Contoh edge directed:  Ku De Ta → Mrs Sippy Bali, 8 menit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A8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DATASET: 30 BEACH CLUB + 2 HUB INFRASTRUKTUR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D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Setiap node memiliki: wilayah, rating (0-5), min_spend (IDR), lat, lon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274320" y="1143000"/>
            <a:ext cx="4206240" cy="530352"/>
          </a:xfrm>
          <a:prstGeom prst="roundRect">
            <a:avLst>
              <a:gd name="adj" fmla="val 13793"/>
            </a:avLst>
          </a:prstGeom>
          <a:solidFill>
            <a:srgbClr val="065A82">
              <a:alpha val="22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225296"/>
            <a:ext cx="365760" cy="365760"/>
          </a:xfrm>
          <a:prstGeom prst="ellipse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22529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04672" y="1170432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Seminyak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04672" y="1399032"/>
            <a:ext cx="35661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D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Potato Head, Ku De Ta, Mrs Sippy, Azul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709160" y="1143000"/>
            <a:ext cx="4206240" cy="530352"/>
          </a:xfrm>
          <a:prstGeom prst="roundRect">
            <a:avLst>
              <a:gd name="adj" fmla="val 13793"/>
            </a:avLst>
          </a:prstGeom>
          <a:solidFill>
            <a:srgbClr val="065A82">
              <a:alpha val="22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00600" y="1225296"/>
            <a:ext cx="365760" cy="365760"/>
          </a:xfrm>
          <a:prstGeom prst="ellipse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0600" y="122529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239512" y="1170432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Canggu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239512" y="1399032"/>
            <a:ext cx="35661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D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Finns, Finns VIP, Atlas Beach Fest, La Brisa, Como, Cafe del Mar, The Lawn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74320" y="1783080"/>
            <a:ext cx="4206240" cy="530352"/>
          </a:xfrm>
          <a:prstGeom prst="roundRect">
            <a:avLst>
              <a:gd name="adj" fmla="val 13793"/>
            </a:avLst>
          </a:prstGeom>
          <a:solidFill>
            <a:srgbClr val="065A82">
              <a:alpha val="22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1865376"/>
            <a:ext cx="365760" cy="365760"/>
          </a:xfrm>
          <a:prstGeom prst="ellipse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186537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04672" y="1810512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Uluwatu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04672" y="2039112"/>
            <a:ext cx="35661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D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Savaya Bali, Single Fin, El Kabron, Karma, Sundays, dll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709160" y="1783080"/>
            <a:ext cx="4206240" cy="530352"/>
          </a:xfrm>
          <a:prstGeom prst="roundRect">
            <a:avLst>
              <a:gd name="adj" fmla="val 13793"/>
            </a:avLst>
          </a:prstGeom>
          <a:solidFill>
            <a:srgbClr val="065A82">
              <a:alpha val="22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00600" y="1865376"/>
            <a:ext cx="365760" cy="365760"/>
          </a:xfrm>
          <a:prstGeom prst="ellipse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0600" y="186537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239512" y="1810512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Melasti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239512" y="2039112"/>
            <a:ext cx="35661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D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 Beach Club, White Rock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274320" y="2423160"/>
            <a:ext cx="4206240" cy="530352"/>
          </a:xfrm>
          <a:prstGeom prst="roundRect">
            <a:avLst>
              <a:gd name="adj" fmla="val 13793"/>
            </a:avLst>
          </a:prstGeom>
          <a:solidFill>
            <a:srgbClr val="065A82">
              <a:alpha val="22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5760" y="2505456"/>
            <a:ext cx="365760" cy="365760"/>
          </a:xfrm>
          <a:prstGeom prst="ellipse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250545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04672" y="2450592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Pandawa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804672" y="2679192"/>
            <a:ext cx="35661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D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Roosterfish Beach Club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709160" y="2423160"/>
            <a:ext cx="4206240" cy="530352"/>
          </a:xfrm>
          <a:prstGeom prst="roundRect">
            <a:avLst>
              <a:gd name="adj" fmla="val 13793"/>
            </a:avLst>
          </a:prstGeom>
          <a:solidFill>
            <a:srgbClr val="065A82">
              <a:alpha val="22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800600" y="2505456"/>
            <a:ext cx="365760" cy="365760"/>
          </a:xfrm>
          <a:prstGeom prst="ellipse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00600" y="250545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239512" y="2450592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Nusa Dua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5239512" y="2679192"/>
            <a:ext cx="35661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D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Manarai, Sakala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274320" y="3063240"/>
            <a:ext cx="4206240" cy="530352"/>
          </a:xfrm>
          <a:prstGeom prst="roundRect">
            <a:avLst>
              <a:gd name="adj" fmla="val 13793"/>
            </a:avLst>
          </a:prstGeom>
          <a:solidFill>
            <a:srgbClr val="065A82">
              <a:alpha val="22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65760" y="3145536"/>
            <a:ext cx="365760" cy="365760"/>
          </a:xfrm>
          <a:prstGeom prst="ellipse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" y="314553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804672" y="3090672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Gianyar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804672" y="3319272"/>
            <a:ext cx="35661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D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Komune Beach Club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4709160" y="3063240"/>
            <a:ext cx="4206240" cy="530352"/>
          </a:xfrm>
          <a:prstGeom prst="roundRect">
            <a:avLst>
              <a:gd name="adj" fmla="val 13793"/>
            </a:avLst>
          </a:prstGeom>
          <a:solidFill>
            <a:srgbClr val="065A82">
              <a:alpha val="22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800600" y="3145536"/>
            <a:ext cx="365760" cy="365760"/>
          </a:xfrm>
          <a:prstGeom prst="ellipse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00600" y="314553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5239512" y="3090672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Tabanan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5239512" y="3319272"/>
            <a:ext cx="35661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D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Soka Beach Club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274320" y="3703320"/>
            <a:ext cx="4206240" cy="530352"/>
          </a:xfrm>
          <a:prstGeom prst="roundRect">
            <a:avLst>
              <a:gd name="adj" fmla="val 13793"/>
            </a:avLst>
          </a:prstGeom>
          <a:solidFill>
            <a:srgbClr val="065A82">
              <a:alpha val="22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65760" y="3785616"/>
            <a:ext cx="365760" cy="365760"/>
          </a:xfrm>
          <a:prstGeom prst="ellipse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65760" y="378561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804672" y="3730752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Nusa Lembongan</a:t>
            </a:r>
            <a:endParaRPr lang="en-US" sz="1150" dirty="0"/>
          </a:p>
        </p:txBody>
      </p:sp>
      <p:sp>
        <p:nvSpPr>
          <p:cNvPr id="48" name="Text 46"/>
          <p:cNvSpPr/>
          <p:nvPr/>
        </p:nvSpPr>
        <p:spPr>
          <a:xfrm>
            <a:off x="804672" y="3959352"/>
            <a:ext cx="35661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D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Sandy Bay, Ohana's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4709160" y="3703320"/>
            <a:ext cx="4206240" cy="530352"/>
          </a:xfrm>
          <a:prstGeom prst="roundRect">
            <a:avLst>
              <a:gd name="adj" fmla="val 13793"/>
            </a:avLst>
          </a:prstGeom>
          <a:solidFill>
            <a:srgbClr val="065A82">
              <a:alpha val="22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800600" y="3785616"/>
            <a:ext cx="365760" cy="365760"/>
          </a:xfrm>
          <a:prstGeom prst="ellipse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800600" y="378561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5239512" y="3730752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Nusa Ceningan</a:t>
            </a:r>
            <a:endParaRPr lang="en-US" sz="1150" dirty="0"/>
          </a:p>
        </p:txBody>
      </p:sp>
      <p:sp>
        <p:nvSpPr>
          <p:cNvPr id="53" name="Text 51"/>
          <p:cNvSpPr/>
          <p:nvPr/>
        </p:nvSpPr>
        <p:spPr>
          <a:xfrm>
            <a:off x="5239512" y="3959352"/>
            <a:ext cx="35661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D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Pirate Beach Club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274320" y="4370832"/>
            <a:ext cx="8595360" cy="987552"/>
          </a:xfrm>
          <a:prstGeom prst="roundRect">
            <a:avLst>
              <a:gd name="adj" fmla="val 9259"/>
            </a:avLst>
          </a:prstGeom>
          <a:solidFill>
            <a:srgbClr val="E8A838">
              <a:alpha val="18000"/>
            </a:srgbClr>
          </a:solidFill>
          <a:ln w="19050">
            <a:solidFill>
              <a:srgbClr val="E8A83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11480" y="4443984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🔶  Hub Infrastruktur (Auto-Registered) + Node Dinamis Pengguna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411480" y="475488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Highway Hub  ·  Sanur Port Hub  ·  "Posisi Riil Saya (GPS)" — ditambahkan dinamis dari streamlit_js_eval.get_geolocation()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28016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ALGORITMA DIJKSTRA — compute_dijkstra()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D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Min-Heap (heapq) · Bobot = waktu tempuh (menit) · Directed Graph traversal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56032" y="1115568"/>
            <a:ext cx="2788920" cy="1627632"/>
          </a:xfrm>
          <a:prstGeom prst="roundRect">
            <a:avLst>
              <a:gd name="adj" fmla="val 56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225296"/>
            <a:ext cx="384048" cy="384048"/>
          </a:xfrm>
          <a:prstGeom prst="ellipse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22529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A8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1207008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Inisialisasi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1664208"/>
            <a:ext cx="26060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distances = {node: ∞ untuk semua}, distances[start] = 0. previous_nodes = {node: None}. priority_queue = [(0, start)].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00400" y="1115568"/>
            <a:ext cx="2788920" cy="1627632"/>
          </a:xfrm>
          <a:prstGeom prst="roundRect">
            <a:avLst>
              <a:gd name="adj" fmla="val 56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10128" y="1225296"/>
            <a:ext cx="384048" cy="384048"/>
          </a:xfrm>
          <a:prstGeom prst="ellipse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10128" y="122529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A8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767328" y="1207008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heappop()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10128" y="1664208"/>
            <a:ext cx="26060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Ambil (current_distance, current_node) terkecil. Simpan ke calculation_log. Jika current_node == end_node → break.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144768" y="1115568"/>
            <a:ext cx="2788920" cy="1627632"/>
          </a:xfrm>
          <a:prstGeom prst="roundRect">
            <a:avLst>
              <a:gd name="adj" fmla="val 56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54496" y="1225296"/>
            <a:ext cx="384048" cy="384048"/>
          </a:xfrm>
          <a:prstGeom prst="ellipse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54496" y="122529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A8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711696" y="1207008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Stale Entry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254496" y="1664208"/>
            <a:ext cx="26060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current_distance &gt; distances[current_node]: continue — menghindari proses entry usang di heap.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56032" y="2898648"/>
            <a:ext cx="2788920" cy="1627632"/>
          </a:xfrm>
          <a:prstGeom prst="roundRect">
            <a:avLst>
              <a:gd name="adj" fmla="val 56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008376"/>
            <a:ext cx="384048" cy="384048"/>
          </a:xfrm>
          <a:prstGeom prst="ellipse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300837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A8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22960" y="2990088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Relaksasi Tetangga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65760" y="3447288"/>
            <a:ext cx="26060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Untuk setiap (neighbor, weight) di adjacency_list[current_node]: jika distance baru &lt; distances[neighbor], update + heappush.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00400" y="2898648"/>
            <a:ext cx="2788920" cy="1627632"/>
          </a:xfrm>
          <a:prstGeom prst="roundRect">
            <a:avLst>
              <a:gd name="adj" fmla="val 56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310128" y="3008376"/>
            <a:ext cx="384048" cy="384048"/>
          </a:xfrm>
          <a:prstGeom prst="ellipse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10128" y="300837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A8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767328" y="2990088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Rekonstruksi Path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310128" y="3447288"/>
            <a:ext cx="26060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Backtrack dari end_node via previous_nodes hingga None, lalu path.insert(0, current).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144768" y="2898648"/>
            <a:ext cx="2788920" cy="1627632"/>
          </a:xfrm>
          <a:prstGeom prst="roundRect">
            <a:avLst>
              <a:gd name="adj" fmla="val 56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254496" y="3008376"/>
            <a:ext cx="384048" cy="384048"/>
          </a:xfrm>
          <a:prstGeom prst="ellipse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54496" y="300837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A8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711696" y="2990088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254496" y="3447288"/>
            <a:ext cx="26060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(path, distances[end_node], calculation_log) — atau ([], inf, {}) jika tidak ada jalur (graph directed!).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200400" cy="3200400"/>
          </a:xfrm>
          <a:prstGeom prst="ellipse">
            <a:avLst/>
          </a:prstGeom>
          <a:solidFill>
            <a:srgbClr val="065A82">
              <a:alpha val="28000"/>
            </a:srgbClr>
          </a:solidFill>
          <a:ln w="12700">
            <a:solidFill>
              <a:srgbClr val="065A82">
                <a:alpha val="2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3474720"/>
            <a:ext cx="2286000" cy="2286000"/>
          </a:xfrm>
          <a:prstGeom prst="ellipse">
            <a:avLst/>
          </a:prstGeom>
          <a:solidFill>
            <a:srgbClr val="E8A838">
              <a:alpha val="20000"/>
            </a:srgbClr>
          </a:solidFill>
          <a:ln w="12700">
            <a:solidFill>
              <a:srgbClr val="E8A838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A8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MODUL SISTEM (NAVIGASI SIDEBAR)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DB4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st.sidebar.radio("Pilih Modul Sistem:", [...])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234440"/>
            <a:ext cx="4206240" cy="1719072"/>
          </a:xfrm>
          <a:prstGeom prst="roundRect">
            <a:avLst>
              <a:gd name="adj" fmla="val 6383"/>
            </a:avLst>
          </a:prstGeom>
          <a:solidFill>
            <a:srgbClr val="065A82">
              <a:alpha val="22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1371600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Rekomendasi &amp; Filter DSS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38912" y="1856232"/>
            <a:ext cx="3886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by nama, filter wilayah/budget/rating. Peta interaktif st.map. Rekomendasi AI multi-kriteria (Seimbang / Rating Tinggi / Budget Hemat).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09160" y="1234440"/>
            <a:ext cx="4206240" cy="1719072"/>
          </a:xfrm>
          <a:prstGeom prst="roundRect">
            <a:avLst>
              <a:gd name="adj" fmla="val 6383"/>
            </a:avLst>
          </a:prstGeom>
          <a:solidFill>
            <a:srgbClr val="065A82">
              <a:alpha val="22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73752" y="1371600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➕  Kelola Graf (Input Data)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73752" y="1856232"/>
            <a:ext cx="3886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 1: tambah node baru (nama, wilayah, rating, budget, lat/lon). Tab 2: hubungkan edge baru antar node dengan bobot waktu (menit).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3108960"/>
            <a:ext cx="4206240" cy="1719072"/>
          </a:xfrm>
          <a:prstGeom prst="roundRect">
            <a:avLst>
              <a:gd name="adj" fmla="val 6383"/>
            </a:avLst>
          </a:prstGeom>
          <a:solidFill>
            <a:srgbClr val="065A82">
              <a:alpha val="22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912" y="3246120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Optimasi Rute (Dijkstra Engine)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38912" y="3730752"/>
            <a:ext cx="3886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Pilih titik awal (default = lokasi GPS) &amp; tujuan. Hitung rute tercepat, tampilkan peta lintasan, breakdown per-langkah, ekspor CSV.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09160" y="3108960"/>
            <a:ext cx="4206240" cy="1719072"/>
          </a:xfrm>
          <a:prstGeom prst="roundRect">
            <a:avLst>
              <a:gd name="adj" fmla="val 6383"/>
            </a:avLst>
          </a:prstGeom>
          <a:solidFill>
            <a:srgbClr val="065A82">
              <a:alpha val="22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73752" y="3246120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Inspeksi Struktur Data Graph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873752" y="3730752"/>
            <a:ext cx="3886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Tampilkan Adjacency Matrix &amp; Adjacency List sebagai tabel. Analisis Degree Centrality untuk menemukan hub paling strategis.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📋 MODUL 1: REKOMENDASI &amp; FILTER DSS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115568"/>
            <a:ext cx="3931920" cy="3794760"/>
          </a:xfrm>
          <a:prstGeom prst="roundRect">
            <a:avLst>
              <a:gd name="adj" fmla="val 28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20700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🎛️  Kontrol Filter Interaktif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11480" y="16916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Search Box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" y="1984248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Cari beach club spesifik berdasarkan nama (case-insensitive)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11480" y="2404872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Batasan Wilayah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26974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Selectbox: 10 wilayah unik atau 'Semua Wilayah'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11480" y="3118104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Max Budget (Slider)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1480" y="3410712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 150.000 — Rp 1.500.000, step 50.000, default 1.000.000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11480" y="3831336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Min Rating (Slider)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11480" y="4123944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4.0 — 5.0, step 0.1, default 4.4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389120" y="1115568"/>
            <a:ext cx="4480560" cy="3794760"/>
          </a:xfrm>
          <a:prstGeom prst="roundRect">
            <a:avLst>
              <a:gd name="adj" fmla="val 2892"/>
            </a:avLst>
          </a:prstGeom>
          <a:solidFill>
            <a:srgbClr val="0B2545"/>
          </a:solidFill>
          <a:ln/>
        </p:spPr>
      </p:sp>
      <p:sp>
        <p:nvSpPr>
          <p:cNvPr id="15" name="Text 13"/>
          <p:cNvSpPr/>
          <p:nvPr/>
        </p:nvSpPr>
        <p:spPr>
          <a:xfrm>
            <a:off x="4526280" y="1207008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Rekomendasi Pintar AI (Custom Preference)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26280" y="1627632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DB4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st.radio("Apa prioritas utama Anda hari ini?", [...], horizontal=True)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526280" y="2103120"/>
            <a:ext cx="4206240" cy="658368"/>
          </a:xfrm>
          <a:prstGeom prst="roundRect">
            <a:avLst>
              <a:gd name="adj" fmla="val 11111"/>
            </a:avLst>
          </a:prstGeom>
          <a:solidFill>
            <a:srgbClr val="065A82">
              <a:alpha val="30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63440" y="2176272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 Seimbang (Value)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663440" y="245059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DB4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Formula: min_spend / rating²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26280" y="2880360"/>
            <a:ext cx="4206240" cy="658368"/>
          </a:xfrm>
          <a:prstGeom prst="roundRect">
            <a:avLst>
              <a:gd name="adj" fmla="val 11111"/>
            </a:avLst>
          </a:prstGeom>
          <a:solidFill>
            <a:srgbClr val="065A82">
              <a:alpha val="30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63440" y="2953512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Mengutamakan Rating Tinggi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663440" y="322783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DB4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Formula: min_spend / rating⁴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26280" y="3657600"/>
            <a:ext cx="4206240" cy="658368"/>
          </a:xfrm>
          <a:prstGeom prst="roundRect">
            <a:avLst>
              <a:gd name="adj" fmla="val 11111"/>
            </a:avLst>
          </a:prstGeom>
          <a:solidFill>
            <a:srgbClr val="065A82">
              <a:alpha val="30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63440" y="3730752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Mengutamakan Budget Hemat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663440" y="400507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DB4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Formula: min(min_spend)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26280" y="4526280"/>
            <a:ext cx="4206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Output: "Tempat terbaik yang disarankan adalah [Nama] di daerah [Wilayah]"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1371600"/>
            <a:ext cx="3657600" cy="3657600"/>
          </a:xfrm>
          <a:prstGeom prst="ellipse">
            <a:avLst/>
          </a:prstGeom>
          <a:solidFill>
            <a:srgbClr val="065A82">
              <a:alpha val="28000"/>
            </a:srgbClr>
          </a:solidFill>
          <a:ln w="12700">
            <a:solidFill>
              <a:srgbClr val="065A82">
                <a:alpha val="28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A8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⚡ MODUL 3: OPTIMASI RUTE (DIJKSTRA ENGINE)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56032" y="1051560"/>
            <a:ext cx="2788920" cy="1609344"/>
          </a:xfrm>
          <a:prstGeom prst="roundRect">
            <a:avLst>
              <a:gd name="adj" fmla="val 5682"/>
            </a:avLst>
          </a:prstGeom>
          <a:solidFill>
            <a:srgbClr val="065A82">
              <a:alpha val="22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14300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 Input Titik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1554480"/>
            <a:ext cx="25603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Selectbox titik awal (default = node GPS pengguna) &amp; titik tujuan (default = Savaya Bali).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200400" y="1051560"/>
            <a:ext cx="2788920" cy="1609344"/>
          </a:xfrm>
          <a:prstGeom prst="roundRect">
            <a:avLst>
              <a:gd name="adj" fmla="val 5682"/>
            </a:avLst>
          </a:prstGeom>
          <a:solidFill>
            <a:srgbClr val="065A82">
              <a:alpha val="22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10128" y="114300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Hitung Dijkstra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310128" y="1554480"/>
            <a:ext cx="25603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Tombol 'Hitung Rute Lintasan Terbaik' memanggil compute_dijkstra(start, end).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144768" y="1051560"/>
            <a:ext cx="2788920" cy="1609344"/>
          </a:xfrm>
          <a:prstGeom prst="roundRect">
            <a:avLst>
              <a:gd name="adj" fmla="val 5682"/>
            </a:avLst>
          </a:prstGeom>
          <a:solidFill>
            <a:srgbClr val="065A82">
              <a:alpha val="22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54496" y="114300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Tampilkan Metrik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254496" y="1554480"/>
            <a:ext cx="25603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st.metric: Total Waktu Perjalanan Efektif (menit) &amp; Jumlah Titik Simpang Dilewati.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56032" y="2807208"/>
            <a:ext cx="2788920" cy="1609344"/>
          </a:xfrm>
          <a:prstGeom prst="roundRect">
            <a:avLst>
              <a:gd name="adj" fmla="val 5682"/>
            </a:avLst>
          </a:prstGeom>
          <a:solidFill>
            <a:srgbClr val="065A82">
              <a:alpha val="22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898648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🗺️  Peta Lintasan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65760" y="3310128"/>
            <a:ext cx="25603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st.map menampilkan titik-titik path dengan warna biru (#0000FF), size 65.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00400" y="2807208"/>
            <a:ext cx="2788920" cy="1609344"/>
          </a:xfrm>
          <a:prstGeom prst="roundRect">
            <a:avLst>
              <a:gd name="adj" fmla="val 5682"/>
            </a:avLst>
          </a:prstGeom>
          <a:solidFill>
            <a:srgbClr val="065A82">
              <a:alpha val="22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10128" y="2898648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🔀  Alur Urutan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310128" y="3310128"/>
            <a:ext cx="25603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Tampilan path: node1 ➔ node2 ➔ ... ➔ node_akhir dalam format kode inline.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144768" y="2807208"/>
            <a:ext cx="2788920" cy="1609344"/>
          </a:xfrm>
          <a:prstGeom prst="roundRect">
            <a:avLst>
              <a:gd name="adj" fmla="val 5682"/>
            </a:avLst>
          </a:prstGeom>
          <a:solidFill>
            <a:srgbClr val="065A82">
              <a:alpha val="22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54496" y="2898648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📥  Ekspor CSV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254496" y="3310128"/>
            <a:ext cx="25603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download_button — file Rute_DSS_{start}_ke_{end}.csv berisi urutan, nama, wilayah, rating.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56032" y="4617720"/>
            <a:ext cx="8631936" cy="502920"/>
          </a:xfrm>
          <a:prstGeom prst="roundRect">
            <a:avLst>
              <a:gd name="adj" fmla="val 14545"/>
            </a:avLst>
          </a:prstGeom>
          <a:solidFill>
            <a:srgbClr val="0B2545"/>
          </a:solidFill>
          <a:ln w="19050">
            <a:solidFill>
              <a:srgbClr val="E8A83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61772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Bonus Detail: expander 'Bongkar Langkah Per-Node' — menampilkan bobot waktu (menit) tiap segmen jalur secara transparan.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📊 MODUL 4: INSPEKSI STRUKTUR DATA GRAPH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56032" y="1078992"/>
            <a:ext cx="278892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84048" y="1188720"/>
            <a:ext cx="420624" cy="420624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118872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96112" y="1170432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Adjacency Matrix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84048" y="1755648"/>
            <a:ext cx="25603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get_adjacency_matrix() membentuk DataFrame N×N. Sel [i][j] berisi bobot edge i→j jika ada, else 0. Ditampilkan via st.dataframe.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00400" y="1078992"/>
            <a:ext cx="278892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28416" y="1188720"/>
            <a:ext cx="420624" cy="420624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28416" y="118872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840480" y="1170432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Adjacency List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328416" y="1755648"/>
            <a:ext cx="25603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Iterasi adjacency_list — setiap node menampilkan daftar [target | Bobot: w min] atau 'None (Sink Node)' jika tidak punya edge keluar.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144768" y="1078992"/>
            <a:ext cx="278892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72784" y="1188720"/>
            <a:ext cx="420624" cy="420624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72784" y="118872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784848" y="1170432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Degree Centrality ⭐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272784" y="1755648"/>
            <a:ext cx="25603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compute_degree_centrality(): out-degree (jalur keluar) + in-degree (jalur masuk dari node lain) → skor sentralitas tiap node. Diurutkan descending.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56032" y="3310128"/>
            <a:ext cx="8631936" cy="18288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6032" y="3419856"/>
            <a:ext cx="86319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✨ FITUR PLUS (BONUS POIN) YANG TERINTEGRASI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256032" y="3822192"/>
            <a:ext cx="2788920" cy="1325880"/>
          </a:xfrm>
          <a:prstGeom prst="roundRect">
            <a:avLst>
              <a:gd name="adj" fmla="val 6897"/>
            </a:avLst>
          </a:prstGeom>
          <a:solidFill>
            <a:srgbClr val="E8A838">
              <a:alpha val="20000"/>
            </a:srgbClr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3913632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 GPS Real-Time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365760" y="429768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get_geolocation() browser, node 'Posisi Riil Saya' otomatis terhubung ke 4 destinasi (Main Hub, Potato Head, Finns, Savaya).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200400" y="3822192"/>
            <a:ext cx="2788920" cy="1325880"/>
          </a:xfrm>
          <a:prstGeom prst="roundRect">
            <a:avLst>
              <a:gd name="adj" fmla="val 6897"/>
            </a:avLst>
          </a:prstGeom>
          <a:solidFill>
            <a:srgbClr val="E8A838">
              <a:alpha val="20000"/>
            </a:srgbClr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10128" y="3913632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AI Multi-Kriteria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3310128" y="429768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mode rekomendasi otomatis berdasarkan preferensi rating/budget/value pengguna.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144768" y="3822192"/>
            <a:ext cx="2788920" cy="1325880"/>
          </a:xfrm>
          <a:prstGeom prst="roundRect">
            <a:avLst>
              <a:gd name="adj" fmla="val 6897"/>
            </a:avLst>
          </a:prstGeom>
          <a:solidFill>
            <a:srgbClr val="E8A838">
              <a:alpha val="20000"/>
            </a:srgbClr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54496" y="3913632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Network Centrality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254496" y="429768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Analisis hub paling strategis dalam jaringan transportasi via degree centrality.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A8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⚠️ KOREKSI: PERBEDAAN KODE vs LAPORAN</a:t>
            </a:r>
            <a:endParaRPr lang="en-US" sz="2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60120"/>
          <a:ext cx="8595360" cy="3063240"/>
        </p:xfrm>
        <a:graphic>
          <a:graphicData uri="http://schemas.openxmlformats.org/drawingml/2006/table">
            <a:tbl>
              <a:tblPr/>
              <a:tblGrid>
                <a:gridCol w="1828800"/>
                <a:gridCol w="3383280"/>
                <a:gridCol w="3383280"/>
              </a:tblGrid>
              <a:tr h="43760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B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B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B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B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A8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Klaim di Laporan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B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B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B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B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Implementasi Kode Aktual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B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B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B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B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AE60"/>
                    </a:solidFill>
                  </a:tcPr>
                </a:tc>
              </a:tr>
              <a:tr h="43760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8A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Jenis Graph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B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B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B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B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35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EE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Undirected Graph (dua arah)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B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B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B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B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35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EE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Directed Graph — add_edge satu arah saja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B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B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B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B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358"/>
                    </a:solidFill>
                  </a:tcPr>
                </a:tc>
              </a:tr>
              <a:tr h="43760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8A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Bobot Edge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B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B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B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B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EE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Jarak (kilometer)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B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B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B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B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EE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Waktu tempuh (menit)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B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B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B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B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4A"/>
                    </a:solidFill>
                  </a:tcPr>
                </a:tc>
              </a:tr>
              <a:tr h="43760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8A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Jumlah Node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B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B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B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B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35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EE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 node (10 wilayah + 7 beach club)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B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B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B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B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35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EE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 beach club + 2 hub + 1 node GPS dinamis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B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B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B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B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358"/>
                    </a:solidFill>
                  </a:tcPr>
                </a:tc>
              </a:tr>
              <a:tr h="43760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8A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Struktur Penyimpanan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B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B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B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B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EE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Nested Dictionary statis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B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B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B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B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EE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 BaliBeachClubGraph dgn adjacency_list dinamis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B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B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B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B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4A"/>
                    </a:solidFill>
                  </a:tcPr>
                </a:tc>
              </a:tr>
              <a:tr h="43760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8A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Fitur Tambahan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B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B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B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B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35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EE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Tidak disebutkan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B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B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B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B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35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EE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GPS real-time, AI rekomendasi, ekspor CSV, degree centrality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B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B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B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B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358"/>
                    </a:solidFill>
                  </a:tcPr>
                </a:tc>
              </a:tr>
              <a:tr h="43760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8A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Manajemen Data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B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B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B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B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EE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Hardcoded di kode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B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B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B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B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EE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 'Kelola Graf' — tambah node/edge via UI interaktif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B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B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B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B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4A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274320" y="4251960"/>
            <a:ext cx="8595360" cy="914400"/>
          </a:xfrm>
          <a:prstGeom prst="roundRect">
            <a:avLst>
              <a:gd name="adj" fmla="val 10000"/>
            </a:avLst>
          </a:prstGeom>
          <a:solidFill>
            <a:srgbClr val="065A82">
              <a:alpha val="35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11480" y="4297680"/>
            <a:ext cx="8321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Catatan: Karena graph bersifat directed, pencarian rute pada Modul 3 dapat GAGAL (rute tidak ditemukan) jika tidak ada path searah dari titik awal ke tujuan — sesuai pesan error dalam kode: "Sambungkan simpul jalan ini di menu Kelola Graf."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097280"/>
            <a:ext cx="4572000" cy="4572000"/>
          </a:xfrm>
          <a:prstGeom prst="ellipse">
            <a:avLst/>
          </a:prstGeom>
          <a:solidFill>
            <a:srgbClr val="065A82">
              <a:alpha val="32000"/>
            </a:srgbClr>
          </a:solidFill>
          <a:ln w="12700">
            <a:solidFill>
              <a:srgbClr val="065A82">
                <a:alpha val="3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3200400"/>
            <a:ext cx="3200400" cy="3200400"/>
          </a:xfrm>
          <a:prstGeom prst="ellipse">
            <a:avLst/>
          </a:prstGeom>
          <a:solidFill>
            <a:srgbClr val="065A82">
              <a:alpha val="25000"/>
            </a:srgbClr>
          </a:solidFill>
          <a:ln w="12700">
            <a:solidFill>
              <a:srgbClr val="065A82">
                <a:alpha val="2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A8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KESIMPULAN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38912" y="1097280"/>
            <a:ext cx="457200" cy="457200"/>
          </a:xfrm>
          <a:prstGeom prst="ellipse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1097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60704" y="1024128"/>
            <a:ext cx="74980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Bali Beach Club DSS Engine adalah aplikasi Streamlit 4-modul yang jauh lebih kaya fitur dibanding deskripsi laporan: dilengkapi GPS real-time, manajemen graf dinamis, dan rekomendasi AI multi-kriteria.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8912" y="2011680"/>
            <a:ext cx="457200" cy="457200"/>
          </a:xfrm>
          <a:prstGeom prst="ellipse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2011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60704" y="1938528"/>
            <a:ext cx="74980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Struktur graph diimplementasikan sebagai DIRECTED WEIGHTED GRAPH via class BaliBeachClubGraph dengan adjacency_list — bobot edge merepresentasikan WAKTU TEMPUH (menit), bukan jarak (km).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8912" y="2926080"/>
            <a:ext cx="457200" cy="457200"/>
          </a:xfrm>
          <a:prstGeom prst="ellipse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" y="2926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60704" y="2852928"/>
            <a:ext cx="74980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Algoritma Dijkstra dengan Min-Heap (heapq) terimplementasi penuh: inisialisasi, relaksasi edge, skip stale entries, dan backtracking rekonstruksi jalur — termasuk handling kasus rute tidak ditemukan.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38912" y="3840480"/>
            <a:ext cx="457200" cy="457200"/>
          </a:xfrm>
          <a:prstGeom prst="ellipse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" y="3840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60704" y="3767328"/>
            <a:ext cx="74980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Fitur plus seperti Degree Centrality Analysis dan ekspor CSV menunjukkan sistem ini melampaui spesifikasi dasar DSS — menjadikannya tool analisis jaringan transportasi wisata yang komprehensif.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645920" y="4709160"/>
            <a:ext cx="5852160" cy="384048"/>
          </a:xfrm>
          <a:prstGeom prst="roundRect">
            <a:avLst>
              <a:gd name="adj" fmla="val 19048"/>
            </a:avLst>
          </a:prstGeom>
          <a:solidFill>
            <a:srgbClr val="065A82">
              <a:alpha val="38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645920" y="4727448"/>
            <a:ext cx="5852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Bali Beach Club DSS Engine  ·  Source Code Analysis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Bali Beach Club DSS Engine</dc:title>
  <dc:subject>PptxGenJS Presentation</dc:subject>
  <dc:creator>PptxGenJS</dc:creator>
  <cp:lastModifiedBy>PptxGenJS</cp:lastModifiedBy>
  <cp:revision>1</cp:revision>
  <dcterms:created xsi:type="dcterms:W3CDTF">2026-06-12T00:23:27Z</dcterms:created>
  <dcterms:modified xsi:type="dcterms:W3CDTF">2026-06-12T00:23:27Z</dcterms:modified>
</cp:coreProperties>
</file>