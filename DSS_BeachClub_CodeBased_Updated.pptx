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8" r:id="rId8"/>
    <p:sldId id="260" r:id="rId9"/>
    <p:sldId id="261" r:id="rId10"/>
    <p:sldId id="269" r:id="rId11"/>
    <p:sldId id="262" r:id="rId12"/>
    <p:sldId id="263" r:id="rId13"/>
    <p:sldId id="264" r:id="rId14"/>
    <p:sldId id="265" r:id="rId15"/>
    <p:sldId id="270" r:id="rId16"/>
    <p:sldId id="271" r:id="rId17"/>
    <p:sldId id="266" r:id="rId18"/>
    <p:sldId id="267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notesSlide" Target="../notesSlides/notesSlide6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754880" cy="475488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822960"/>
            <a:ext cx="2926080" cy="292608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1C7293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IMPLEMENTASI · STREAMLIT · PYTHON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BALI BEACH CLUB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DSS ENGINE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Directed Weighted Graph + Algoritma Dijkstra + GPS Real-Time + AI Recommendation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3756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🐍 Python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33756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Streamlit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8620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333756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📍 GPS Geolocation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33756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🔢 heapq Dijkstra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948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333756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pandas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8138160" cy="685800"/>
          </a:xfrm>
          <a:prstGeom prst="roundRect">
            <a:avLst>
              <a:gd name="adj" fmla="val 16000"/>
            </a:avLst>
          </a:prstGeom>
          <a:solidFill>
            <a:srgbClr val="065A82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Studi Implementasi Source Code Sistem Pendukung Keputusan Rute Wisata Berbasis Graph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7315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OVERVIEW SISTEM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 yang dilakukan Bali Beach Club DSS Engine?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243584"/>
            <a:ext cx="25603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🏖️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947672"/>
            <a:ext cx="24871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Beach Club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542032"/>
            <a:ext cx="2487168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lengkap berisi 30 beach club ternama di Bali: Potato Head, Finns, Savaya, Atlas Beach Fest, dan lainnya — lengkap dengan rating, budget, dan koordinat GPS.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43584"/>
            <a:ext cx="25603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🧭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28416" y="1947672"/>
            <a:ext cx="24871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Directed Weighted Graph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2542032"/>
            <a:ext cx="2487168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Struktur graph berarah (one-way) dengan bobot berupa WAKTU TEMPUH dalam menit — bukan jarak km. Dimodelkan via Adjacency List.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243584"/>
            <a:ext cx="25603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72784" y="1947672"/>
            <a:ext cx="24871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GPS Real-Time + 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542032"/>
            <a:ext cx="2487168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Mendeteksi lokasi user via browser geolocation, lalu memberi rekomendasi multi-kriteria (rating / budget / value) secara otomatis.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ARSITEKTUR &amp; 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4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config: page_title='Bali Beach Club DSS Engine', layout='wide', sidebar='expanded'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786384"/>
          </a:xfrm>
          <a:prstGeom prst="roundRect">
            <a:avLst>
              <a:gd name="adj" fmla="val 11628"/>
            </a:avLst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2468880" cy="786384"/>
          </a:xfrm>
          <a:prstGeom prst="roundRect">
            <a:avLst>
              <a:gd name="adj" fmla="val 1162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65A82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22860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17520" y="1353312"/>
            <a:ext cx="54864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 UI web utama. 4 modul navigasi via sidebar radio: Rekomendasi &amp; Filter, Kelola Graf, Optimasi Rute, Inspeksi Struktur 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229600" cy="786384"/>
          </a:xfrm>
          <a:prstGeom prst="roundRect">
            <a:avLst>
              <a:gd name="adj" fmla="val 11628"/>
            </a:avLst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12848"/>
            <a:ext cx="2468880" cy="786384"/>
          </a:xfrm>
          <a:prstGeom prst="roundRect">
            <a:avLst>
              <a:gd name="adj" fmla="val 11628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22860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streamlit_js_eval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17520" y="2267712"/>
            <a:ext cx="54864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get_geolocation() — mengambil koordinat GPS asli browser pengguna secara real-time. Fallback ke koordinat default jika ditolak/gagal.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8229600" cy="786384"/>
          </a:xfrm>
          <a:prstGeom prst="roundRect">
            <a:avLst>
              <a:gd name="adj" fmla="val 11628"/>
            </a:avLst>
          </a:prstGeom>
          <a:solidFill>
            <a:srgbClr val="8E5BAF">
              <a:alpha val="20000"/>
            </a:srgbClr>
          </a:solidFill>
          <a:ln w="19050">
            <a:solidFill>
              <a:srgbClr val="8E5B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27248"/>
            <a:ext cx="2468880" cy="786384"/>
          </a:xfrm>
          <a:prstGeom prst="roundRect">
            <a:avLst>
              <a:gd name="adj" fmla="val 11628"/>
            </a:avLst>
          </a:prstGeom>
          <a:solidFill>
            <a:srgbClr val="8E5BAF">
              <a:alpha val="70000"/>
            </a:srgbClr>
          </a:solidFill>
          <a:ln w="12700">
            <a:solidFill>
              <a:srgbClr val="8E5BA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82112"/>
            <a:ext cx="22860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BaliBeachClubGraph (dijkstra.py)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17520" y="3182112"/>
            <a:ext cx="54864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custom: adjacency_list (dict of list), node_metadata (dict). Method: add_node, add_edge, compute_dijkstra, get_adjacency_matrix, compute_degree_centrality.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8229600" cy="786384"/>
          </a:xfrm>
          <a:prstGeom prst="roundRect">
            <a:avLst>
              <a:gd name="adj" fmla="val 11628"/>
            </a:avLst>
          </a:prstGeom>
          <a:solidFill>
            <a:srgbClr val="E8A838">
              <a:alpha val="20000"/>
            </a:srgbClr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41648"/>
            <a:ext cx="2468880" cy="786384"/>
          </a:xfrm>
          <a:prstGeom prst="roundRect">
            <a:avLst>
              <a:gd name="adj" fmla="val 11628"/>
            </a:avLst>
          </a:prstGeom>
          <a:solidFill>
            <a:srgbClr val="E8A838">
              <a:alpha val="70000"/>
            </a:srgbClr>
          </a:solidFill>
          <a:ln w="12700">
            <a:solidFill>
              <a:srgbClr val="E8A838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96512"/>
            <a:ext cx="22860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+ heapq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17520" y="4096512"/>
            <a:ext cx="54864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untuk DataFrame (tabel, peta st.map, ekspor CSV). heapq untuk Min-Heap priority queue pada algoritma Dijkstra.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STRUKTUR DATA: class BaliBeachClubGraph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393192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0700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 Atribut Class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3657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adjacency_list  </a:t>
            </a:r>
            <a:r>
              <a:rPr lang="en-US" sz="115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dict[node] = list of (target, weight)
</a:t>
            </a:r>
            <a:r>
              <a:rPr lang="en-US" sz="1150" b="1" dirty="0">
                <a:solidFill>
                  <a:srgbClr val="065A8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node_metadata  </a:t>
            </a:r>
            <a:r>
              <a:rPr lang="en-US" sz="115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dict[node] = {wilayah, rating, min_spend, lat, lon}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2788920"/>
            <a:ext cx="3566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9260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Catatan Penting: DIRECTED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365760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 add_edge() HANYA menambahkan edge ke adjacency_list[source] — TIDAK ada penambahan balik ke adjacency_list[destination]. Artinya graph ini bersifat SATU ARAH (directed), berbeda dari laporan yang menyatakan undirected/dua-arah!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115568"/>
            <a:ext cx="4480560" cy="3794760"/>
          </a:xfrm>
          <a:prstGeom prst="roundRect">
            <a:avLst>
              <a:gd name="adj" fmla="val 2892"/>
            </a:avLst>
          </a:prstGeom>
          <a:solidFill>
            <a:srgbClr val="0D3358"/>
          </a:solidFill>
        </p:spPr>
      </p:sp>
      <p:sp>
        <p:nvSpPr>
          <p:cNvPr id="11" name="Text 9"/>
          <p:cNvSpPr/>
          <p:nvPr/>
        </p:nvSpPr>
        <p:spPr>
          <a:xfrm>
            <a:off x="4526280" y="1207008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🛠️  Method Utama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162763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add_node(name, meta)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1874520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Daftarkan simpul baru + metadata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26280" y="2139696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add_edge(src, dst, w)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2386584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Tambah edge berarah src → dst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26280" y="265176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compute_dijkstra(s, 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2898648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Hitung jalur tercepat (waktu)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3163824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get_adjacency_matrix()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3410712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Bentuk matriks ketetanggaan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3675888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compute_degree_centrality()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3922776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Hitung skor sentralitas node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26280" y="4370832"/>
            <a:ext cx="420624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462272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DB4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Contoh edge directed:  Ku De Ta → Mrs Sippy Bali, 8 menit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</p:sp>
      <p:sp>
        <p:nvSpPr>
          <p:cNvPr id="3" name="Title"/>
          <p:cNvSpPr/>
          <p:nvPr/>
        </p:nvSpPr>
        <p:spPr>
          <a:xfrm>
            <a:off x="457200" y="128016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</a:rPr>
              <a:t>JENIS GRAPH YANG DIGUNAKAN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</a:endParaRPr>
          </a:p>
        </p:txBody>
      </p:sp>
      <p:sp>
        <p:nvSpPr>
          <p:cNvPr id="4" name="LeftCard"/>
          <p:cNvSpPr/>
          <p:nvPr/>
        </p:nvSpPr>
        <p:spPr>
          <a:xfrm>
            <a:off x="256032" y="1080000"/>
            <a:ext cx="4114800" cy="37000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LeftIcon"/>
          <p:cNvSpPr/>
          <p:nvPr/>
        </p:nvSpPr>
        <p:spPr>
          <a:xfrm>
            <a:off x="420480" y="1170000"/>
            <a:ext cx="380000" cy="380000"/>
          </a:xfrm>
          <a:prstGeom prst="ellipse">
            <a:avLst/>
          </a:prstGeom>
          <a:solidFill>
            <a:srgbClr val="0B2545"/>
          </a:solidFill>
        </p:spPr>
      </p:sp>
      <p:sp>
        <p:nvSpPr>
          <p:cNvPr id="6" name="LeftIconText"/>
          <p:cNvSpPr/>
          <p:nvPr/>
        </p:nvSpPr>
        <p:spPr>
          <a:xfrm>
            <a:off x="420480" y="1170000"/>
            <a:ext cx="380000" cy="3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mbria" panose="02040503050406030204" pitchFamily="34" charset="0"/>
              </a:rPr>
              <a:t>G</a:t>
            </a:r>
            <a:endParaRPr lang="en-US" sz="1400" b="1" dirty="0">
              <a:solidFill>
                <a:srgbClr val="E8A838"/>
              </a:solidFill>
              <a:latin typeface="Cambria" panose="02040503050406030204" pitchFamily="34" charset="0"/>
            </a:endParaRPr>
          </a:p>
        </p:txBody>
      </p:sp>
      <p:sp>
        <p:nvSpPr>
          <p:cNvPr id="7" name="LeftContent"/>
          <p:cNvSpPr/>
          <p:nvPr/>
        </p:nvSpPr>
        <p:spPr>
          <a:xfrm>
            <a:off x="420480" y="1580000"/>
            <a:ext cx="3840000" cy="31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</a:rPr>
              <a:t>Directed Weighted Graph</a:t>
            </a:r>
            <a:endParaRPr lang="en-US" sz="1300" b="1" dirty="0">
              <a:solidFill>
                <a:srgbClr val="0B2545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</a:rPr>
              <a:t>Representasi: Adjacency List</a:t>
            </a:r>
            <a:endParaRPr lang="en-US" sz="11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</a:rPr>
              <a:t>Bobot Edge: Waktu Tempuh (Menit)</a:t>
            </a:r>
            <a:endParaRPr lang="en-US" sz="11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</a:rPr>
              <a:t>Node: Beach Club, Hub, dan GPS Dinamis</a:t>
            </a:r>
            <a:endParaRPr lang="en-US" sz="1100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ightCard"/>
          <p:cNvSpPr/>
          <p:nvPr/>
        </p:nvSpPr>
        <p:spPr>
          <a:xfrm>
            <a:off x="4773168" y="1080000"/>
            <a:ext cx="4114800" cy="3700000"/>
          </a:xfrm>
          <a:prstGeom prst="roundRect">
            <a:avLst>
              <a:gd name="adj" fmla="val 5618"/>
            </a:avLst>
          </a:prstGeom>
          <a:solidFill>
            <a:srgbClr val="0B2545"/>
          </a:solidFill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RightTitle"/>
          <p:cNvSpPr/>
          <p:nvPr/>
        </p:nvSpPr>
        <p:spPr>
          <a:xfrm>
            <a:off x="4937616" y="1170000"/>
            <a:ext cx="3785904" cy="44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anose="02040503050406030204" pitchFamily="34" charset="0"/>
              </a:rPr>
              <a:t>Alasan Pemilihan</a:t>
            </a:r>
            <a:endParaRPr lang="en-US" sz="1400" b="1" dirty="0">
              <a:solidFill>
                <a:srgbClr val="E8A838"/>
              </a:solidFill>
              <a:latin typeface="Cambria" panose="02040503050406030204" pitchFamily="34" charset="0"/>
            </a:endParaRPr>
          </a:p>
        </p:txBody>
      </p:sp>
      <p:sp>
        <p:nvSpPr>
          <p:cNvPr id="10" name="RightContent"/>
          <p:cNvSpPr/>
          <p:nvPr/>
        </p:nvSpPr>
        <p:spPr>
          <a:xfrm>
            <a:off x="4937616" y="1640000"/>
            <a:ext cx="3785904" cy="31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0">
              <a:buChar char="-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Efisien untuk pencarian rute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  <a:p>
            <a:pPr marL="228600" indent="0">
              <a:buChar char="-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Mudah dikembangkan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  <a:p>
            <a:pPr marL="228600" indent="0">
              <a:buChar char="-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Mendukung algoritma Dijkstra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DATASET: 30 BEACH CLUB + 2 HUB INFRASTRUKTUR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Setiap node memiliki: wilayah, rating (0-5), min_spend (IDR), lat, lon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2529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2529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17043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Seminyak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39903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Potato Head, Ku De Ta, Mrs Sippy, Azul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2529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2529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9512" y="117043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Canggu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39512" y="139903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Finns, Finns VIP, Atlas Beach Fest, La Brisa, Como, Cafe del Mar, The Lawn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6537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6537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181051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Uluwatu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203911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Savaya Bali, Single Fin, El Kabron, Karma, Sundays, dll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78308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86537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86537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9512" y="181051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Melasti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39512" y="203911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TT Beach Club, White Rock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50545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50545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245059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Pandawa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4672" y="267919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Roosterfish Beach Club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42316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50545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0545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9512" y="245059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Nusa Dua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39512" y="267919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Manarai, Sakala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06324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14553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14553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4672" y="309067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Gianyar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4672" y="331927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Komune Beach Club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06324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14553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14553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39512" y="309067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Tabanan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239512" y="331927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Soka Beach Club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378561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78561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04672" y="373075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Nusa Lembongan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04672" y="395935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Sandy Bay, Ohana's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370332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378561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78561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39512" y="373075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Nusa Ceningan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39512" y="3959352"/>
            <a:ext cx="3566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Pirate Beach Club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4370832"/>
            <a:ext cx="8595360" cy="987552"/>
          </a:xfrm>
          <a:prstGeom prst="roundRect">
            <a:avLst>
              <a:gd name="adj" fmla="val 9259"/>
            </a:avLst>
          </a:prstGeom>
          <a:solidFill>
            <a:srgbClr val="E8A838">
              <a:alpha val="18000"/>
            </a:srgbClr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443984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🔶  Hub Infrastruktur (Auto-Registered) + Node Dinamis Pengguna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11480" y="4754880"/>
            <a:ext cx="83210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Highway Hub  ·  Sanur Port Hub  ·  "Posisi Riil Saya (GPS)" — ditambahkan dinamis dari streamlit_js_eval.get_geolocation()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ALGORITMA DIJKSTRA — compute_dijkstra()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Min-Heap (heapq) · Bobot = waktu tempuh (menit) · Directed Graph traversal</a:t>
            </a:r>
            <a:endParaRPr lang="en-US" sz="11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256032" y="111556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365760" y="122529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365760" y="122529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822960" y="1207008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Inisialisasi</a:t>
            </a:r>
            <a:endParaRPr lang="en-US" sz="12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365760" y="1664208"/>
            <a:ext cx="26060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distances = {node: ∞ untuk semua}, distances[start] = 0. previous_nodes = {node: None}. priority_queue = [(0, start)].</a:t>
            </a:r>
            <a:endParaRPr lang="en-US" sz="95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200400" y="111556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310128" y="122529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3310128" y="122529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3767328" y="1207008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heappop()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310128" y="1664208"/>
            <a:ext cx="26060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Ambil (current_distance, current_node) terkecil. Simpan ke calculation_log. Jika current_node == end_node → break.</a:t>
            </a:r>
            <a:endParaRPr lang="en-US" sz="95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6144768" y="111556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6254496" y="122529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6254496" y="122529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6711696" y="1207008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 Stale Entry</a:t>
            </a:r>
            <a:endParaRPr lang="en-US" sz="12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6254496" y="1664208"/>
            <a:ext cx="26060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current_distance &gt; distances[current_node]: continue — menghindari proses entry usang di heap.</a:t>
            </a:r>
            <a:endParaRPr lang="en-US" sz="950" dirty="0"/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256032" y="289864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365760" y="300837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365760" y="300837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822960" y="2990088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Relaksasi Tetangga</a:t>
            </a:r>
            <a:endParaRPr lang="en-US" sz="120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365760" y="3447288"/>
            <a:ext cx="26060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Untuk setiap (neighbor, weight) di adjacency_list[current_node]: jika distance baru &lt; distances[neighbor], update + heappush.</a:t>
            </a:r>
            <a:endParaRPr lang="en-US" sz="950" dirty="0"/>
          </a:p>
        </p:txBody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3200400" y="289864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3310128" y="300837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3310128" y="300837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3767328" y="2990088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Rekonstruksi Path</a:t>
            </a:r>
            <a:endParaRPr lang="en-US" sz="1200" dirty="0"/>
          </a:p>
        </p:txBody>
      </p:sp>
      <p:sp>
        <p:nvSpPr>
          <p:cNvPr id="29" name="Text 27"/>
          <p:cNvSpPr/>
          <p:nvPr>
            <p:custDataLst>
              <p:tags r:id="rId25"/>
            </p:custDataLst>
          </p:nvPr>
        </p:nvSpPr>
        <p:spPr>
          <a:xfrm>
            <a:off x="3310128" y="3447288"/>
            <a:ext cx="26060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Backtrack dari end_node via previous_nodes hingga None, lalu path.insert(0, current).</a:t>
            </a:r>
            <a:endParaRPr lang="en-US" sz="950" dirty="0"/>
          </a:p>
        </p:txBody>
      </p:sp>
      <p:sp>
        <p:nvSpPr>
          <p:cNvPr id="30" name="Shape 28"/>
          <p:cNvSpPr/>
          <p:nvPr>
            <p:custDataLst>
              <p:tags r:id="rId26"/>
            </p:custDataLst>
          </p:nvPr>
        </p:nvSpPr>
        <p:spPr>
          <a:xfrm>
            <a:off x="6144768" y="289864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>
            <p:custDataLst>
              <p:tags r:id="rId27"/>
            </p:custDataLst>
          </p:nvPr>
        </p:nvSpPr>
        <p:spPr>
          <a:xfrm>
            <a:off x="6254496" y="300837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6254496" y="300837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>
            <p:custDataLst>
              <p:tags r:id="rId29"/>
            </p:custDataLst>
          </p:nvPr>
        </p:nvSpPr>
        <p:spPr>
          <a:xfrm>
            <a:off x="6711696" y="2990088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</a:t>
            </a:r>
            <a:endParaRPr lang="en-US" sz="1200" dirty="0"/>
          </a:p>
        </p:txBody>
      </p:sp>
      <p:sp>
        <p:nvSpPr>
          <p:cNvPr id="34" name="Text 32"/>
          <p:cNvSpPr/>
          <p:nvPr>
            <p:custDataLst>
              <p:tags r:id="rId30"/>
            </p:custDataLst>
          </p:nvPr>
        </p:nvSpPr>
        <p:spPr>
          <a:xfrm>
            <a:off x="6254496" y="3447288"/>
            <a:ext cx="26060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(path, distances[end_node], calculation_log) — atau ([], inf, {}) jika tidak ada jalur (graph directed!).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</p:sp>
      <p:sp>
        <p:nvSpPr>
          <p:cNvPr id="3" name="Title"/>
          <p:cNvSpPr/>
          <p:nvPr/>
        </p:nvSpPr>
        <p:spPr>
          <a:xfrm>
            <a:off x="457200" y="128016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</a:rPr>
              <a:t>ANALISIS KOMPLEKSITAS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</a:endParaRPr>
          </a:p>
        </p:txBody>
      </p:sp>
      <p:sp>
        <p:nvSpPr>
          <p:cNvPr id="4" name="AlgoCard"/>
          <p:cNvSpPr/>
          <p:nvPr/>
        </p:nvSpPr>
        <p:spPr>
          <a:xfrm>
            <a:off x="2285000" y="1080000"/>
            <a:ext cx="4574000" cy="520000"/>
          </a:xfrm>
          <a:prstGeom prst="roundRect">
            <a:avLst>
              <a:gd name="adj" fmla="val 8000"/>
            </a:avLst>
          </a:prstGeom>
          <a:solidFill>
            <a:srgbClr val="0B2545"/>
          </a:solidFill>
        </p:spPr>
      </p:sp>
      <p:sp>
        <p:nvSpPr>
          <p:cNvPr id="5" name="AlgoText"/>
          <p:cNvSpPr/>
          <p:nvPr/>
        </p:nvSpPr>
        <p:spPr>
          <a:xfrm>
            <a:off x="2285000" y="1080000"/>
            <a:ext cx="4574000" cy="52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mbria" panose="02040503050406030204" pitchFamily="34" charset="0"/>
              </a:rPr>
              <a:t>Algoritma: Dijkstra + Priority Queue (Min Heap)</a:t>
            </a:r>
            <a:endParaRPr lang="en-US" sz="1300" b="1" dirty="0">
              <a:solidFill>
                <a:srgbClr val="E8A838"/>
              </a:solidFill>
              <a:latin typeface="Cambria" panose="02040503050406030204" pitchFamily="34" charset="0"/>
            </a:endParaRPr>
          </a:p>
        </p:txBody>
      </p:sp>
      <p:sp>
        <p:nvSpPr>
          <p:cNvPr id="6" name="ComplexityCard"/>
          <p:cNvSpPr/>
          <p:nvPr/>
        </p:nvSpPr>
        <p:spPr>
          <a:xfrm>
            <a:off x="2285000" y="1680000"/>
            <a:ext cx="4574000" cy="8000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>
            <a:solidFill>
              <a:srgbClr val="0B2545"/>
            </a:solidFill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ComplexityText"/>
          <p:cNvSpPr/>
          <p:nvPr/>
        </p:nvSpPr>
        <p:spPr>
          <a:xfrm>
            <a:off x="2285000" y="1680000"/>
            <a:ext cx="4574000" cy="8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545"/>
                </a:solidFill>
                <a:latin typeface="Cambria" panose="02040503050406030204" pitchFamily="34" charset="0"/>
              </a:rPr>
              <a:t>O((V + E) log V)</a:t>
            </a:r>
            <a:endParaRPr lang="en-US" sz="2800" b="1" dirty="0">
              <a:solidFill>
                <a:srgbClr val="0B2545"/>
              </a:solidFill>
              <a:latin typeface="Cambria" panose="02040503050406030204" pitchFamily="34" charset="0"/>
            </a:endParaRPr>
          </a:p>
        </p:txBody>
      </p:sp>
      <p:sp>
        <p:nvSpPr>
          <p:cNvPr id="8" name="LegendText"/>
          <p:cNvSpPr/>
          <p:nvPr/>
        </p:nvSpPr>
        <p:spPr>
          <a:xfrm>
            <a:off x="2285000" y="2560000"/>
            <a:ext cx="4574000" cy="2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B4C0"/>
                </a:solidFill>
                <a:latin typeface="Calibri" panose="020F0502020204030204" pitchFamily="34" charset="0"/>
              </a:rPr>
              <a:t>V = Jumlah Node   |   E = Jumlah Edge</a:t>
            </a:r>
            <a:endParaRPr lang="en-US" sz="1100" i="1" dirty="0">
              <a:solidFill>
                <a:srgbClr val="9DB4C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KeunggulanCard"/>
          <p:cNvSpPr/>
          <p:nvPr/>
        </p:nvSpPr>
        <p:spPr>
          <a:xfrm>
            <a:off x="256032" y="2920000"/>
            <a:ext cx="8631936" cy="19500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KeunggulanText"/>
          <p:cNvSpPr/>
          <p:nvPr/>
        </p:nvSpPr>
        <p:spPr>
          <a:xfrm>
            <a:off x="456000" y="2980000"/>
            <a:ext cx="8231000" cy="183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</a:rPr>
              <a:t>Keunggulan:</a:t>
            </a:r>
            <a:endParaRPr lang="en-US" sz="1300" b="1" dirty="0">
              <a:solidFill>
                <a:srgbClr val="0B2545"/>
              </a:solidFill>
              <a:latin typeface="Calibri" panose="020F0502020204030204" pitchFamily="34" charset="0"/>
            </a:endParaRPr>
          </a:p>
          <a:p>
            <a:pPr marL="228600" indent="0">
              <a:buChar char="-"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</a:rPr>
              <a:t>Cepat</a:t>
            </a:r>
            <a:endParaRPr lang="en-US" sz="12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228600" indent="0">
              <a:buChar char="-"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</a:rPr>
              <a:t>Efisien</a:t>
            </a:r>
            <a:endParaRPr lang="en-US" sz="12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228600" indent="0">
              <a:buChar char="-"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</a:rPr>
              <a:t>Cocok untuk DSS berbasis Graph</a:t>
            </a:r>
            <a:endParaRPr lang="en-US" sz="1200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 MODUL SISTEM (NAVIGASI SIDEBAR)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4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st.sidebar.radio("Pilih Modul Sistem:", [...])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7160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 Rekomendasi &amp; Filter DSS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856232"/>
            <a:ext cx="3886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by nama, filter wilayah/budget/rating. Peta interaktif st.map. Rekomendasi AI multi-kriteria (Seimbang / Rating Tinggi / Budget Hemat).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37160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➕  Kelola Graf (Input Data)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3752" y="1856232"/>
            <a:ext cx="3886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 1: tambah node baru (nama, wilayah, rating, budget, lat/lon). Tab 2: hubungkan edge baru antar node dengan bobot waktu (menit).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24612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Optimasi Rute (Dijkstra Engine)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" y="3730752"/>
            <a:ext cx="3886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Pilih titik awal (default = lokasi GPS) &amp; tujuan. Hitung rute tercepat, tampilkan peta lintasan, breakdown per-langkah, ekspor CSV.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10896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324612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Inspeksi Struktur Data Graph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3752" y="3730752"/>
            <a:ext cx="3886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Tampilkan Adjacency Matrix &amp; Adjacency List sebagai tabel. Analisis Degree Centrality untuk menemukan hub paling strategis.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📋 MODUL 1: REKOMENDASI &amp; FILTER DSS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393192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0700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🎛️  Kontrol Filter Interaktif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Search Box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84248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Cari beach club spesifik berdasarkan nama (case-insensitive)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40487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📍 Batasan Wilayah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Selectbox: 10 wilayah unik atau 'Semua Wilayah'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11810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Max Budget (Slider)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410712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Rp 150.000 — Rp 1.500.000, step 50.000, default 1.000.000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83133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 Min Rating (Slider)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123944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 — 5.0, step 0.1, default 4.4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115568"/>
            <a:ext cx="4480560" cy="3794760"/>
          </a:xfrm>
          <a:prstGeom prst="roundRect">
            <a:avLst>
              <a:gd name="adj" fmla="val 2892"/>
            </a:avLst>
          </a:prstGeom>
          <a:solidFill>
            <a:srgbClr val="0B2545"/>
          </a:solidFill>
        </p:spPr>
      </p:sp>
      <p:sp>
        <p:nvSpPr>
          <p:cNvPr id="15" name="Text 13"/>
          <p:cNvSpPr/>
          <p:nvPr/>
        </p:nvSpPr>
        <p:spPr>
          <a:xfrm>
            <a:off x="4526280" y="1207008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Rekomendasi Pintar AI (Custom Preference)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1627632"/>
            <a:ext cx="4206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4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st.radio("Apa prioritas utama Anda hari ini?", [...], horizontal=True)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210312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17627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⚖️ Seimbang (Value)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2450592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4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Formula: min_spend / rating²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8803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5351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 Mengutamakan Rating Tinggi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63440" y="3227832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4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Formula: min_spend / rating⁴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365760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73075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Mengutamakan Budget Hemat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63440" y="4005072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4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Formula: min(min_spend)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26280" y="4526280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Output: "Tempat terbaik yang disarankan adalah [Nama] di daerah [Wilayah]"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⚡ MODUL 3: OPTIMASI RUTE (DIJKSTRA ENGINE)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📍  Input Titik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Selectbox titik awal (default = node GPS pengguna) &amp; titik tujuan (default = Savaya Bali).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114300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Hitung Dijkstra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55448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Tombol 'Hitung Rute Lintasan Terbaik' memanggil compute_dijkstra(start, end).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4768" y="1051560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14300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Tampilkan Metrik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4496" y="1554480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st.metric: Total Waktu Perjalanan Efektif (menit) &amp; Jumlah Titik Simpang Dilewati.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807208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98648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🗺️  Peta Lintasan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310128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st.map menampilkan titik-titik path dengan warna biru (#0000FF), size 65.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2807208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898648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🔀  Alur Urutan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3310128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Tampilan path: node1 ➔ node2 ➔ ... ➔ node_akhir dalam format kode inline.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2807208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898648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📥  Ekspor CSV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3310128"/>
            <a:ext cx="25603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download_button — file Rute_DSS_{start}_ke_{end}.csv berisi urutan, nama, wilayah, rating.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4617720"/>
            <a:ext cx="8631936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177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🔧 Bonus Detail: expander 'Bongkar Langkah Per-Node' — menampilkan bobot waktu (menit) tiap segmen jalur secara transparan.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📊 MODUL 4: INSPEKSI STRUKTUR DATA GRAPH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88720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170432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Adjacency Matrix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25603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get_adjacency_matrix() membentuk DataFrame N×N. Sel [i][j] berisi bobot edge i→j jika ada, else 0. Ditampilkan via st.dataframe.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1188720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18872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1170432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Adjacency List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28416" y="1755648"/>
            <a:ext cx="25603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Iterasi adjacency_list — setiap node menampilkan daftar [target | Bobot: w min] atau 'None (Sink Node)' jika tidak punya edge keluar.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4768" y="1078992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188720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18872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84848" y="1170432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Degree Centrality ⭐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72784" y="1755648"/>
            <a:ext cx="25603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compute_degree_centrality(): out-degree (jalur keluar) + in-degree (jalur masuk dari node lain) → skor sentralitas tiap node. Diurutkan descending.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3310128"/>
            <a:ext cx="8631936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419856"/>
            <a:ext cx="86319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✨ FITUR PLUS (BONUS POIN) YANG TERINTEGRASI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6032" y="382219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E8A838">
              <a:alpha val="2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13632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📍  GPS Real-Time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297680"/>
            <a:ext cx="25603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get_geolocation() browser, node 'Posisi Riil Saya' otomatis terhubung ke 4 destinasi (Main Hub, Potato Head, Finns, Savaya).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82219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E8A838">
              <a:alpha val="2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913632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AI Multi-Kriteria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10128" y="4297680"/>
            <a:ext cx="25603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mode rekomendasi otomatis berdasarkan preferensi rating/budget/value pengguna.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44768" y="382219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E8A838">
              <a:alpha val="2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3913632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 Network Centrality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54496" y="4297680"/>
            <a:ext cx="25603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Analisis hub paling strategis dalam jaringan transportasi via degree centrality.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</p:sp>
      <p:sp>
        <p:nvSpPr>
          <p:cNvPr id="3" name="Title"/>
          <p:cNvSpPr/>
          <p:nvPr/>
        </p:nvSpPr>
        <p:spPr>
          <a:xfrm>
            <a:off x="457200" y="128016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</a:rPr>
              <a:t>KENDALA DAN SOLUSI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</a:endParaRPr>
          </a:p>
        </p:txBody>
      </p:sp>
      <p:sp>
        <p:nvSpPr>
          <p:cNvPr id="4" name="KendalaCard"/>
          <p:cNvSpPr/>
          <p:nvPr/>
        </p:nvSpPr>
        <p:spPr>
          <a:xfrm>
            <a:off x="256032" y="1080000"/>
            <a:ext cx="4114800" cy="37000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KendalaTitle"/>
          <p:cNvSpPr/>
          <p:nvPr/>
        </p:nvSpPr>
        <p:spPr>
          <a:xfrm>
            <a:off x="420480" y="1160000"/>
            <a:ext cx="3840000" cy="4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anose="02040503050406030204" pitchFamily="34" charset="0"/>
              </a:rPr>
              <a:t>⚠ Kendala</a:t>
            </a:r>
            <a:endParaRPr lang="en-US" sz="1600" b="1" dirty="0">
              <a:solidFill>
                <a:srgbClr val="0B2545"/>
              </a:solidFill>
              <a:latin typeface="Cambria" panose="02040503050406030204" pitchFamily="34" charset="0"/>
            </a:endParaRPr>
          </a:p>
        </p:txBody>
      </p:sp>
      <p:sp>
        <p:nvSpPr>
          <p:cNvPr id="6" name="KendalaContent"/>
          <p:cNvSpPr/>
          <p:nvPr/>
        </p:nvSpPr>
        <p:spPr>
          <a:xfrm>
            <a:off x="420480" y="1600000"/>
            <a:ext cx="3840000" cy="31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0"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</a:rPr>
              <a:t>Banyak hubungan antar lokasi</a:t>
            </a:r>
            <a:endParaRPr lang="en-US" sz="12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</a:rPr>
              <a:t>Pencarian rute tercepat</a:t>
            </a:r>
            <a:endParaRPr lang="en-US" sz="12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</a:rPr>
              <a:t>Penentuan posisi pengguna</a:t>
            </a:r>
            <a:endParaRPr lang="en-US" sz="1200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SolusiCard"/>
          <p:cNvSpPr/>
          <p:nvPr/>
        </p:nvSpPr>
        <p:spPr>
          <a:xfrm>
            <a:off x="4773168" y="1080000"/>
            <a:ext cx="4114800" cy="3700000"/>
          </a:xfrm>
          <a:prstGeom prst="roundRect">
            <a:avLst>
              <a:gd name="adj" fmla="val 5618"/>
            </a:avLst>
          </a:prstGeom>
          <a:solidFill>
            <a:srgbClr val="0B2545"/>
          </a:solidFill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olusiTitle"/>
          <p:cNvSpPr/>
          <p:nvPr/>
        </p:nvSpPr>
        <p:spPr>
          <a:xfrm>
            <a:off x="4937616" y="1160000"/>
            <a:ext cx="3785904" cy="4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838"/>
                </a:solidFill>
                <a:latin typeface="Cambria" panose="02040503050406030204" pitchFamily="34" charset="0"/>
              </a:rPr>
              <a:t>✓ Solusi</a:t>
            </a:r>
            <a:endParaRPr lang="en-US" sz="1600" b="1" dirty="0">
              <a:solidFill>
                <a:srgbClr val="E8A838"/>
              </a:solidFill>
              <a:latin typeface="Cambria" panose="02040503050406030204" pitchFamily="34" charset="0"/>
            </a:endParaRPr>
          </a:p>
        </p:txBody>
      </p:sp>
      <p:sp>
        <p:nvSpPr>
          <p:cNvPr id="9" name="SolusiContent"/>
          <p:cNvSpPr/>
          <p:nvPr/>
        </p:nvSpPr>
        <p:spPr>
          <a:xfrm>
            <a:off x="4937616" y="1600000"/>
            <a:ext cx="3785904" cy="31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0"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Adjacency List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Algoritma Dijkstra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GPS Geolocation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</p:sp>
      <p:sp>
        <p:nvSpPr>
          <p:cNvPr id="3" name="Title"/>
          <p:cNvSpPr/>
          <p:nvPr/>
        </p:nvSpPr>
        <p:spPr>
          <a:xfrm>
            <a:off x="457200" y="128016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</a:rPr>
              <a:t>KELEBIHAN DAN KEKURANGAN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</a:endParaRPr>
          </a:p>
        </p:txBody>
      </p:sp>
      <p:sp>
        <p:nvSpPr>
          <p:cNvPr id="4" name="KelebihanCard"/>
          <p:cNvSpPr/>
          <p:nvPr/>
        </p:nvSpPr>
        <p:spPr>
          <a:xfrm>
            <a:off x="256032" y="1080000"/>
            <a:ext cx="4114800" cy="3700000"/>
          </a:xfrm>
          <a:prstGeom prst="roundRect">
            <a:avLst>
              <a:gd name="adj" fmla="val 5618"/>
            </a:avLst>
          </a:prstGeom>
          <a:solidFill>
            <a:srgbClr val="0B2545"/>
          </a:solidFill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KelebihanTitle"/>
          <p:cNvSpPr/>
          <p:nvPr/>
        </p:nvSpPr>
        <p:spPr>
          <a:xfrm>
            <a:off x="420480" y="1160000"/>
            <a:ext cx="3840000" cy="4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838"/>
                </a:solidFill>
                <a:latin typeface="Cambria" panose="02040503050406030204" pitchFamily="34" charset="0"/>
              </a:rPr>
              <a:t>✓ KELEBIHAN</a:t>
            </a:r>
            <a:endParaRPr lang="en-US" sz="1600" b="1" dirty="0">
              <a:solidFill>
                <a:srgbClr val="E8A838"/>
              </a:solidFill>
              <a:latin typeface="Cambria" panose="02040503050406030204" pitchFamily="34" charset="0"/>
            </a:endParaRPr>
          </a:p>
        </p:txBody>
      </p:sp>
      <p:sp>
        <p:nvSpPr>
          <p:cNvPr id="6" name="KelebihanContent"/>
          <p:cNvSpPr/>
          <p:nvPr/>
        </p:nvSpPr>
        <p:spPr>
          <a:xfrm>
            <a:off x="420480" y="1600000"/>
            <a:ext cx="3840000" cy="31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0"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GPS Real-Time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AI Recommendation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Degree Centrality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Dynamic Graph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</a:rPr>
              <a:t>Export CSV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</a:endParaRPr>
          </a:p>
        </p:txBody>
      </p:sp>
      <p:sp>
        <p:nvSpPr>
          <p:cNvPr id="7" name="KekuranganCard"/>
          <p:cNvSpPr/>
          <p:nvPr/>
        </p:nvSpPr>
        <p:spPr>
          <a:xfrm>
            <a:off x="4773168" y="1080000"/>
            <a:ext cx="4114800" cy="370000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KekuranganTitle"/>
          <p:cNvSpPr/>
          <p:nvPr/>
        </p:nvSpPr>
        <p:spPr>
          <a:xfrm>
            <a:off x="4937616" y="1160000"/>
            <a:ext cx="3785904" cy="4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anose="02040503050406030204" pitchFamily="34" charset="0"/>
              </a:rPr>
              <a:t>⚠ KEKURANGAN</a:t>
            </a:r>
            <a:endParaRPr lang="en-US" sz="1600" b="1" dirty="0">
              <a:solidFill>
                <a:srgbClr val="0B2545"/>
              </a:solidFill>
              <a:latin typeface="Cambria" panose="02040503050406030204" pitchFamily="34" charset="0"/>
            </a:endParaRPr>
          </a:p>
        </p:txBody>
      </p:sp>
      <p:sp>
        <p:nvSpPr>
          <p:cNvPr id="9" name="KekuranganContent"/>
          <p:cNvSpPr/>
          <p:nvPr/>
        </p:nvSpPr>
        <p:spPr>
          <a:xfrm>
            <a:off x="4937616" y="1600000"/>
            <a:ext cx="3785904" cy="31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0"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</a:rPr>
              <a:t>Belum menggunakan Google Maps API</a:t>
            </a:r>
            <a:endParaRPr lang="en-US" sz="12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</a:rPr>
              <a:t>Belum real-time traffic</a:t>
            </a:r>
            <a:endParaRPr lang="en-US" sz="1200" dirty="0">
              <a:solidFill>
                <a:srgbClr val="444444"/>
              </a:solidFill>
              <a:latin typeface="Calibri" panose="020F0502020204030204" pitchFamily="34" charset="0"/>
            </a:endParaRPr>
          </a:p>
          <a:p>
            <a:pPr marL="228600" indent="0"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</a:rPr>
              <a:t>Jalur jalan belum ditampilkan secara aktual</a:t>
            </a:r>
            <a:endParaRPr lang="en-US" sz="1200" dirty="0">
              <a:solidFill>
                <a:srgbClr val="444444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⚠️ KOREKSI: PERBEDAAN KODE vs LAPORAN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74320" y="960120"/>
          <a:ext cx="8595360" cy="3063242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383280"/>
              </a:tblGrid>
              <a:tr h="437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Aspek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 Klaim di Laporan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Implementasi Kode Aktual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Jenis Graph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Undirected Graph (dua arah)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Directed Graph — add_edge satu arah saja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Bobot Edge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Jarak (kilometer)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Waktu tempuh (menit)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Jumlah Node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17 node (10 wilayah + 7 beach club)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 beach club + 2 hub + 1 node GPS dinamis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Struktur Penyimpanan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Nested Dictionary statis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 BaliBeachClubGraph dgn adjacency_list dinamis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Fitur Tambahan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Tidak disebutkan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GPS real-time, AI rekomendasi, ekspor CSV, degree centrality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Manajemen Data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Hardcoded di kode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 'Kelola Graf' — tambah node/edge via UI interaktif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425196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4297680"/>
            <a:ext cx="8321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Catatan: Karena graph bersifat directed, pencarian rute pada Modul 3 dapat GAGAL (rute tidak ditemukan) jika tidak ada path searah dari titik awal ke tujuan — sesuai pesan error dalam kode: "Sambungkan simpul jalan ini di menu Kelola Graf."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65A82">
              <a:alpha val="32000"/>
            </a:srgbClr>
          </a:solidFill>
          <a:ln w="12700">
            <a:solidFill>
              <a:srgbClr val="065A82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8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38912" y="1097280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97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0704" y="1024128"/>
            <a:ext cx="7498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Bali Beach Club DSS Engine adalah aplikasi Streamlit 4-modul yang jauh lebih kaya fitur dibanding deskripsi laporan: dilengkapi GPS real-time, manajemen graf dinamis, dan rekomendasi AI multi-kriteria.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2011680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1938528"/>
            <a:ext cx="7498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Struktur graph diimplementasikan sebagai DIRECTED WEIGHTED GRAPH via class BaliBeachClubGraph dengan adjacency_list — bobot edge merepresentasikan WAKTU TEMPUH (menit), bukan jarak (km).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926080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26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0704" y="2852928"/>
            <a:ext cx="7498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Algoritma Dijkstra dengan Min-Heap (heapq) terimplementasi penuh: inisialisasi, relaksasi edge, skip stale entries, dan backtracking rekonstruksi jalur — termasuk handling kasus rute tidak ditemukan.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3840480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840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0704" y="3767328"/>
            <a:ext cx="7498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Fitur plus seperti Degree Centrality Analysis dan ekspor CSV menunjukkan sistem ini melampaui spesifikasi dasar DSS — menjadikannya tool analisis jaringan transportasi wisata yang komprehensif.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45920" y="4709160"/>
            <a:ext cx="5852160" cy="384048"/>
          </a:xfrm>
          <a:prstGeom prst="roundRect">
            <a:avLst>
              <a:gd name="adj" fmla="val 19048"/>
            </a:avLst>
          </a:prstGeom>
          <a:solidFill>
            <a:srgbClr val="065A82">
              <a:alpha val="3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4727448"/>
            <a:ext cx="5852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Bali Beach Club DSS Engine  ·  Source Code Analysis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3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4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5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6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7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8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9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0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1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2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3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4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5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6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7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8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19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0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1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2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3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4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5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6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7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8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29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ags/tag30.xml><?xml version="1.0" encoding="utf-8"?>
<p:tagLst xmlns:p="http://schemas.openxmlformats.org/presentationml/2006/main">
  <p:tag name="KSO_WM_DIAGRAM_VIRTUALLY_FRAME" val="{&quot;height&quot;:268.56,&quot;left&quot;:20.16,&quot;top&quot;:87.84,&quot;width&quot;:683.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9390</Words>
  <Application>WPS Presentation</Application>
  <PresentationFormat>On-screen Show (16:9)</PresentationFormat>
  <Paragraphs>448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Bali Beach Club DSS Engine</dc:title>
  <dc:creator>PptxGenJS</dc:creator>
  <dc:subject>PptxGenJS Presentation</dc:subject>
  <cp:lastModifiedBy>Ardika</cp:lastModifiedBy>
  <cp:revision>2</cp:revision>
  <dcterms:created xsi:type="dcterms:W3CDTF">2026-06-12T00:23:00Z</dcterms:created>
  <dcterms:modified xsi:type="dcterms:W3CDTF">2026-06-12T01:26:25Z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573338D9EFE5485582D35E6E5E7FB15D_12</vt:lpwstr>
  </property>
  <property fmtid="{D5CDD505-2E9C-101B-9397-08002B2CF9AE}" pid="3" name="KSOProductBuildVer">
    <vt:lpwstr>2057-12.2.0.23202</vt:lpwstr>
  </property>
</Properties>
</file>